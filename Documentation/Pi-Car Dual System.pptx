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Orbitron Medium"/>
      <p:regular r:id="rId19"/>
      <p:bold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Orbitron"/>
      <p:regular r:id="rId29"/>
      <p:bold r:id="rId30"/>
    </p:embeddedFont>
    <p:embeddedFont>
      <p:font typeface="Inter Medium"/>
      <p:regular r:id="rId31"/>
      <p:bold r:id="rId32"/>
      <p:italic r:id="rId33"/>
      <p:boldItalic r:id="rId34"/>
    </p:embeddedFont>
    <p:embeddedFont>
      <p:font typeface="Orbitron Black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5D15FA-02E9-47C9-98D8-617B6EDEFF11}">
  <a:tblStyle styleId="{2F5D15FA-02E9-47C9-98D8-617B6EDEFF1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rbitronMedium-bold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rbitron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regular.fntdata"/><Relationship Id="rId30" Type="http://schemas.openxmlformats.org/officeDocument/2006/relationships/font" Target="fonts/Orbitron-bold.fntdata"/><Relationship Id="rId11" Type="http://schemas.openxmlformats.org/officeDocument/2006/relationships/slide" Target="slides/slide5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4.xml"/><Relationship Id="rId32" Type="http://schemas.openxmlformats.org/officeDocument/2006/relationships/font" Target="fonts/InterMedium-bold.fntdata"/><Relationship Id="rId13" Type="http://schemas.openxmlformats.org/officeDocument/2006/relationships/slide" Target="slides/slide7.xml"/><Relationship Id="rId35" Type="http://schemas.openxmlformats.org/officeDocument/2006/relationships/font" Target="fonts/OrbitronBlack-bold.fntdata"/><Relationship Id="rId12" Type="http://schemas.openxmlformats.org/officeDocument/2006/relationships/slide" Target="slides/slide6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Orbitron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11" Type="http://schemas.openxmlformats.org/officeDocument/2006/relationships/image" Target="../media/image14.png"/><Relationship Id="rId10" Type="http://schemas.openxmlformats.org/officeDocument/2006/relationships/image" Target="../media/image18.png"/><Relationship Id="rId12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6.jpg"/><Relationship Id="rId5" Type="http://schemas.openxmlformats.org/officeDocument/2006/relationships/image" Target="../media/image3.png"/><Relationship Id="rId6" Type="http://schemas.openxmlformats.org/officeDocument/2006/relationships/image" Target="../media/image20.png"/><Relationship Id="rId7" Type="http://schemas.openxmlformats.org/officeDocument/2006/relationships/image" Target="../media/image17.jpg"/><Relationship Id="rId8" Type="http://schemas.openxmlformats.org/officeDocument/2006/relationships/image" Target="../media/image2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31.jpg"/><Relationship Id="rId5" Type="http://schemas.openxmlformats.org/officeDocument/2006/relationships/image" Target="../media/image30.png"/><Relationship Id="rId6" Type="http://schemas.openxmlformats.org/officeDocument/2006/relationships/image" Target="../media/image32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95425" y="2635597"/>
            <a:ext cx="92011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8FAFC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Pi-Car </a:t>
            </a:r>
            <a:r>
              <a:rPr b="0" i="0" lang="en-US" sz="6000" u="none" cap="none" strike="noStrike">
                <a:solidFill>
                  <a:srgbClr val="38BDF8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Dual</a:t>
            </a:r>
            <a:r>
              <a:rPr b="0" i="0" lang="en-US" sz="6000" u="none" cap="none" strike="noStrike">
                <a:solidFill>
                  <a:srgbClr val="F8FAFC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28950" y="3826222"/>
            <a:ext cx="61341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Autonomous Color Seeker &amp; Visual Inspection Robot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5066"/>
            <a:ext cx="5334000" cy="3401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95066"/>
            <a:ext cx="5334000" cy="340131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2585591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rbitron Medium"/>
                <a:ea typeface="Orbitron Medium"/>
                <a:cs typeface="Orbitron Medium"/>
                <a:sym typeface="Orbitron Medium"/>
              </a:rPr>
              <a:t>Color Seeker Robot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061841"/>
            <a:ext cx="45529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autonomous tracking system that utilizes hue, saturation, and value (HSV) masking to follow specific color profiles. It employs image moments to calculate the centroid of target objects for real-time motor actuation.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77025" y="2585591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rbitron Medium"/>
                <a:ea typeface="Orbitron Medium"/>
                <a:cs typeface="Orbitron Medium"/>
                <a:sym typeface="Orbitron Medium"/>
              </a:rPr>
              <a:t>Visual Inspection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3061841"/>
            <a:ext cx="45529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mobile quality control unit designed to systematically scan components or environments. It captures high-resolution frames, detects visual anomalies, and securely logs the inspection data to the central web dashboard.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91556" y="4776341"/>
            <a:ext cx="1093737" cy="42951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Dual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Project</a:t>
            </a: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 Scope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2637"/>
            <a:ext cx="3492549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52637"/>
            <a:ext cx="3492549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52637"/>
            <a:ext cx="3492549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84325" y="24431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527601" y="3348037"/>
            <a:ext cx="15801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rbitron Medium"/>
                <a:ea typeface="Orbitron Medium"/>
                <a:cs typeface="Orbitron Medium"/>
                <a:sym typeface="Orbitron Medium"/>
              </a:rPr>
              <a:t>Hardware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382428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Raspberry Pi acts as the central compute unit, integrating the camera module and motor driver circuits safely.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62625" y="24431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085873" y="3348037"/>
            <a:ext cx="202025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rbitron Medium"/>
                <a:ea typeface="Orbitron Medium"/>
                <a:cs typeface="Orbitron Medium"/>
                <a:sym typeface="Orbitron Medium"/>
              </a:rPr>
              <a:t>Vision Nodes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5074" y="382428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Dedicated Python scripts (vision_node.py, camera_node.py) execute continuous OpenCV processing streams.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40924" y="24431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934182" y="3348037"/>
            <a:ext cx="18802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rbitron Medium"/>
                <a:ea typeface="Orbitron Medium"/>
                <a:cs typeface="Orbitron Medium"/>
                <a:sym typeface="Orbitron Medium"/>
              </a:rPr>
              <a:t>Web Server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23374" y="382428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lightweight Flask application serves the user interface, secure routing, and real-time operational logs.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98637" y="2624137"/>
            <a:ext cx="2381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24550" y="262413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21899" y="26241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Core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571500"/>
            <a:ext cx="555069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Color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Seeker</a:t>
            </a: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 Mode</a:t>
            </a:r>
            <a:endParaRPr/>
          </a:p>
        </p:txBody>
      </p:sp>
      <p:pic>
        <p:nvPicPr>
          <p:cNvPr descr="Paint samples (Предоставено от Getty Images)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22160" r="22160" t="0"/>
          <a:stretch/>
        </p:blipFill>
        <p:spPr>
          <a:xfrm>
            <a:off x="6334125" y="0"/>
            <a:ext cx="5857874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3133725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Color Seeker module enables the Pi-Car to autonomously identify and pursue specific color signatures. Leveraging real-time OpenCV masking and contour detection, the robot dynamically adjusts motor speeds to center and track the target object seamlessly.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8837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28837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28837"/>
            <a:ext cx="342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4748212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Camera Node: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Manages hardware initialization and continuous high-speed frame capture.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381500" y="4748212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Vision Node: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Applies spatial filters, thresholding, and contour extraction to live frames.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191500" y="4748212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Actuation: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Translates spatial coordinates into pulse-width modulation for motors.</a:t>
            </a:r>
            <a:endParaRPr/>
          </a:p>
        </p:txBody>
      </p:sp>
      <p:pic>
        <p:nvPicPr>
          <p:cNvPr descr="Camera Icon Logo Vector Illustration. Photo Camera icon design vector template. Trendy Camera icon flat design vector for website, symbol, logo, icon, sign, app, UI. (Предоставено от Getty Images)" id="140" name="Google Shape;140;p17"/>
          <p:cNvPicPr preferRelativeResize="0"/>
          <p:nvPr/>
        </p:nvPicPr>
        <p:blipFill rotWithShape="1">
          <a:blip r:embed="rId7">
            <a:alphaModFix/>
          </a:blip>
          <a:srcRect b="15451" l="0" r="0" t="15451"/>
          <a:stretch/>
        </p:blipFill>
        <p:spPr>
          <a:xfrm>
            <a:off x="590550" y="2147887"/>
            <a:ext cx="3390899" cy="2343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target vector, Digital marketing solid style icon (Предоставено от Getty Images)" id="141" name="Google Shape;141;p17"/>
          <p:cNvPicPr preferRelativeResize="0"/>
          <p:nvPr/>
        </p:nvPicPr>
        <p:blipFill rotWithShape="1">
          <a:blip r:embed="rId8">
            <a:alphaModFix/>
          </a:blip>
          <a:srcRect b="15451" l="0" r="0" t="15451"/>
          <a:stretch/>
        </p:blipFill>
        <p:spPr>
          <a:xfrm>
            <a:off x="4400550" y="2147887"/>
            <a:ext cx="3390899" cy="2343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utomation icon vector. Isolated contour symbol illustration (Предоставено от Getty Images)" id="142" name="Google Shape;142;p17"/>
          <p:cNvPicPr preferRelativeResize="0"/>
          <p:nvPr/>
        </p:nvPicPr>
        <p:blipFill rotWithShape="1">
          <a:blip r:embed="rId9">
            <a:alphaModFix/>
          </a:blip>
          <a:srcRect b="15451" l="0" r="0" t="15451"/>
          <a:stretch/>
        </p:blipFill>
        <p:spPr>
          <a:xfrm>
            <a:off x="8210550" y="2147887"/>
            <a:ext cx="3390899" cy="234314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Vision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Components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571500"/>
            <a:ext cx="555069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Visual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Inspection</a:t>
            </a:r>
            <a:endParaRPr/>
          </a:p>
        </p:txBody>
      </p:sp>
      <p:pic>
        <p:nvPicPr>
          <p:cNvPr descr="Instructor with audio visual aids, Color, Grouped elements (Предоставено от Getty Images)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2643" r="2643" t="0"/>
          <a:stretch/>
        </p:blipFill>
        <p:spPr>
          <a:xfrm>
            <a:off x="6334125" y="0"/>
            <a:ext cx="585787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71500" y="3133725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Visual Inspection mode transforms the Pi-Car into a mobile quality control agent. Utilizing high-resolution image capture and OpenCV algorithms, it systematically scans environments to detect anomalies or identify specific items, logging all findings to the dashboard.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1143000" y="2619375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Capture: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camera_node initializes the hardware stream and captures high-fidelity RGB frames.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1143000" y="32575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OpenCV applies structural analysis and template matching to identify deviations or target items.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1143000" y="3895725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Detection events, timestamps, and confidence scores are recorded to the internal system database.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1143000" y="453390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Display: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Flask application serves these real-time logs to the user interface via the dedicated templates.</a:t>
            </a:r>
            <a:endParaRPr/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8900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67075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05250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43425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Inspection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Workflow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shboard infographic. Business person analysing financial data on virtual screen. Screen with charts and diagrams.Chart graph elements for data analytics. (Предоставено от Getty Images)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9929" r="9937" t="0"/>
          <a:stretch/>
        </p:blipFill>
        <p:spPr>
          <a:xfrm>
            <a:off x="6334125" y="1895475"/>
            <a:ext cx="5286374" cy="400050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1143000" y="200977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Flask Backend: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Lightweight, robust routing handles all HTTP requests and API endpoints.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1143000" y="295275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Secure Access: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Implements user authentication with dedicated login and registration templates.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1143000" y="389572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Mission Control: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Users can dynamically switch between Seeker and Inspection operation modes.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1143000" y="483870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Responsive UI: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Built with semantic HTML and CSS, optimized for desktop and mobile viewing.</a:t>
            </a:r>
            <a:endParaRPr/>
          </a:p>
        </p:txBody>
      </p:sp>
      <p:pic>
        <p:nvPicPr>
          <p:cNvPr descr="image.png" id="176" name="Google Shape;17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19300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62275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05250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48225"/>
            <a:ext cx="2286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Web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Dashboard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571500" y="2795587"/>
            <a:ext cx="49720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8BDF8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100%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571500" y="4652962"/>
            <a:ext cx="49720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Automated Startup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115050" y="2895600"/>
            <a:ext cx="57807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rbitron Medium"/>
                <a:ea typeface="Orbitron Medium"/>
                <a:cs typeface="Orbitron Medium"/>
                <a:sym typeface="Orbitron Medium"/>
              </a:rPr>
              <a:t>systemd Integration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115050" y="3371850"/>
            <a:ext cx="5505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Pi-Car leverages a custom systemd service (pi-car.service) to ensure the robot operates completely headless. The web dashboard and all camera/vision nodes automatically launch on boot, resulting in maximum reliability and zero manual intervention.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System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Uptime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/>
          <p:nvPr/>
        </p:nvSpPr>
        <p:spPr>
          <a:xfrm>
            <a:off x="571500" y="1951732"/>
            <a:ext cx="11049000" cy="388798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22"/>
          <p:cNvGraphicFramePr/>
          <p:nvPr/>
        </p:nvGraphicFramePr>
        <p:xfrm>
          <a:off x="571500" y="1951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{2F5D15FA-02E9-47C9-98D8-617B6EDEFF11}</a:tableStyleId>
              </a:tblPr>
              <a:tblGrid>
                <a:gridCol w="2688725"/>
                <a:gridCol w="3788125"/>
                <a:gridCol w="4572150"/>
              </a:tblGrid>
              <a:tr h="77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System 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Color Seeker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Visual Inspection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7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Dynamic target tracking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Static/Mobile quality analysis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7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Vision Algorithm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HSV Masking &amp; Contours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Template Matching &amp; Edge Detection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7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Actuation 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Continuous Motor Adjustments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Stop-and-Scan or Waypoint Navigation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7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Output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spatial coordinates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Logged anomaly incident reports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98" name="Google Shape;198;p22"/>
          <p:cNvSpPr/>
          <p:nvPr/>
        </p:nvSpPr>
        <p:spPr>
          <a:xfrm>
            <a:off x="571500" y="2734567"/>
            <a:ext cx="2688728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3260228" y="2734567"/>
            <a:ext cx="378812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7048351" y="2734567"/>
            <a:ext cx="4572148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571500" y="3520380"/>
            <a:ext cx="26887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3260228" y="3520380"/>
            <a:ext cx="37881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7048351" y="3520380"/>
            <a:ext cx="45721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571500" y="4291905"/>
            <a:ext cx="26887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3260228" y="4291905"/>
            <a:ext cx="37881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7048351" y="4291905"/>
            <a:ext cx="45721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71500" y="5063430"/>
            <a:ext cx="26887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260228" y="5063430"/>
            <a:ext cx="37881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7048351" y="5063430"/>
            <a:ext cx="45721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Mode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Comparison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571500" y="50673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Average latency metrics (in milliseconds) per frame during active robot operations. The system maintains robust real-time performance across both functional modes.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Processing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Latency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3255645" y="2158305"/>
            <a:ext cx="5680710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Questions?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3038475" y="3520380"/>
            <a:ext cx="61150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Thank you for exploring the Pi-Car Dual System.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3752850" y="4423320"/>
            <a:ext cx="4686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Access the codebase &amp; documentation.</a:t>
            </a:r>
            <a:endParaRPr/>
          </a:p>
        </p:txBody>
      </p:sp>
      <p:pic>
        <p:nvPicPr>
          <p:cNvPr descr="image.png" id="227" name="Google Shape;22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2850" y="4442370"/>
            <a:ext cx="2190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